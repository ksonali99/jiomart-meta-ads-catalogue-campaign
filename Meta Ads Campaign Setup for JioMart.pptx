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4A023-57B4-75B4-5AB4-1F22FFDFE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76042-4CA9-5ABB-5204-C7FEAF9FA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88D3F-45EB-C923-9E5D-1BEB4DD9F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C4B8-EE56-4F9D-BD02-B0A718FDA82A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F6B2F-6FA4-1472-AFEB-5E7E7425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43241-CB20-DB12-9499-B9DD4C73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DD7F-D642-4E15-9903-FEAA47BD0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06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0BE9-7EC7-541D-4B7F-1E4DFBF8D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E3DF8-E062-B104-277C-A2BC05272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D4369-C68E-402C-36DA-70593DDC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C4B8-EE56-4F9D-BD02-B0A718FDA82A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79AF6-7244-9901-93F7-38582B1C4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BDB09-FDDF-1F3F-1EE1-9AEEC02A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DD7F-D642-4E15-9903-FEAA47BD0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033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FF2E4-DC4A-A45E-491B-A4A777A63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DA65B-3E16-E5FD-E7C9-1A10325EC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FEC1E-3432-4F55-8997-9E35EC6A6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C4B8-EE56-4F9D-BD02-B0A718FDA82A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82A3B-1F0F-B5FB-2CBE-ED0F1E1A7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49E2B-380B-AE4E-B3D0-BCCB48E5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DD7F-D642-4E15-9903-FEAA47BD0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3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BAC37-4D26-D3F6-DDE4-0F231E4A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A90C0-D725-DFFA-8322-63486D8BC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6EAC5-3E96-C814-6F88-7D9B2680F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155BB-81D2-AEAC-E1FC-B3518BF6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C4B8-EE56-4F9D-BD02-B0A718FDA82A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327A9-952B-BD3E-BFF7-0323DE2D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D1D12-2773-5BD3-CDFC-ED603634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DD7F-D642-4E15-9903-FEAA47BD0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4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F800-C3C1-369F-74A4-1A798052B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4C417-B062-D63F-EE63-E262F6A30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8373F-E681-BEAE-DBB1-A9FAC5D9D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A9AA3-E308-1D9E-13E9-CE89B5A56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CC07AC-8790-CAD3-9369-89C30EE29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9720A9-A19E-EB83-3D96-63E0924A3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C4B8-EE56-4F9D-BD02-B0A718FDA82A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889D6-573F-D48E-99CC-DD1277039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60639-2164-8DF5-3037-B56E6A51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DD7F-D642-4E15-9903-FEAA47BD0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79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2753-DFFC-1508-9AD5-3EA88EBB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6697A-1D54-9ADA-E1C4-84B912C5F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C4B8-EE56-4F9D-BD02-B0A718FDA82A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C5250-E29D-8283-AD45-D16F39B96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8C597-7598-E62B-75BB-E48DEBD2E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DD7F-D642-4E15-9903-FEAA47BD0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190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D37C59-F79C-218A-E69C-D6C09434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C4B8-EE56-4F9D-BD02-B0A718FDA82A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38520-0FCB-11ED-420F-0A428B1E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BD419-0756-DA50-5E1F-ADCE0746A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DD7F-D642-4E15-9903-FEAA47BD0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2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AC94-22CC-3684-D76C-AC203DBA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5D0FF-20BD-32B4-A7D4-9FE0DE967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9FABA-F86D-B80F-178A-DC3D1106E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EB748-FD8C-7D4C-DA3F-6F1B50AE8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C4B8-EE56-4F9D-BD02-B0A718FDA82A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95B76-3DBF-5C2F-28BB-9107575A5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29F6D-D7BA-45F7-90C3-79B0D7EF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DD7F-D642-4E15-9903-FEAA47BD0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684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ADB61-09CA-A9A7-C6CC-8E419675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D5775E-4066-D5A0-F8AD-28D34BA9F3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5E3CD-0374-0C26-BB59-040F86822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75DE8-9860-702A-9AD4-DF6ECCB6B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C4B8-EE56-4F9D-BD02-B0A718FDA82A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D786C-1070-F076-2E2D-5110D38E6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0298A-0F57-0DC2-04CC-9F08683B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DD7F-D642-4E15-9903-FEAA47BD0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907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B0BE1-EC70-298B-E535-F3D3A1FF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D3FA3-7E31-32F5-DBE6-6A3DBF4B3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FBE2A-865F-A30D-FCF4-BC2A86530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C4B8-EE56-4F9D-BD02-B0A718FDA82A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6F229-9DCD-496B-8396-92714344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763B5-6ACD-7E26-0E21-F3B7CF656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DD7F-D642-4E15-9903-FEAA47BD0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26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512886-C50D-B578-B7F6-98CD5EBE02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30495-A02E-76CE-3BB6-3D3D2B41C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3594B-E7D3-699A-9A6D-135DCC64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C4B8-EE56-4F9D-BD02-B0A718FDA82A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6065A-AC0B-6890-D2F1-803526E1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5B95D-7AD0-3D1F-3F58-2C033A00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DD7F-D642-4E15-9903-FEAA47BD0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13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A2BE2-4634-41E0-5D29-CD434D7B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C4C8A-55C7-8F9B-B358-288C6D77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BD574-5907-B44D-6E64-B630E2D05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CC4B8-EE56-4F9D-BD02-B0A718FDA82A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843BF-492A-5352-6240-59DF7718D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E1E4A-649F-D7F5-D5A5-D3809689E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9DD7F-D642-4E15-9903-FEAA47BD0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53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96484-9403-89E2-49C9-750F0C8F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Meta Ads Campaign Setup for </a:t>
            </a:r>
            <a:r>
              <a:rPr lang="en-US" b="1" dirty="0" err="1"/>
              <a:t>JioMart</a:t>
            </a:r>
            <a:r>
              <a:rPr lang="en-US" b="1" dirty="0"/>
              <a:t> 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9C6E6-827F-92DC-BA95-6BDE45D418E9}"/>
              </a:ext>
            </a:extLst>
          </p:cNvPr>
          <p:cNvSpPr txBox="1"/>
          <p:nvPr/>
        </p:nvSpPr>
        <p:spPr>
          <a:xfrm>
            <a:off x="770467" y="1691561"/>
            <a:ext cx="494453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Campaign Objective</a:t>
            </a:r>
          </a:p>
          <a:p>
            <a:pPr>
              <a:buNone/>
            </a:pPr>
            <a:r>
              <a:rPr lang="en-US" b="1" dirty="0"/>
              <a:t>Objective: Sales (Catalogue Sales)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Justification</a:t>
            </a:r>
            <a:endParaRPr lang="en-US" dirty="0"/>
          </a:p>
          <a:p>
            <a:pPr>
              <a:buNone/>
            </a:pPr>
            <a:r>
              <a:rPr lang="en-US" dirty="0"/>
              <a:t>The primary goal of </a:t>
            </a:r>
            <a:r>
              <a:rPr lang="en-US" dirty="0" err="1"/>
              <a:t>JioMart</a:t>
            </a:r>
            <a:r>
              <a:rPr lang="en-US" dirty="0"/>
              <a:t> is to sell products online. Therefore, the Sales objective in Meta Ads is the most suitable 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focuses on driving purchases directly from the catalogue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uses Meta Pixel data to optimize conversions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dynamic ads based on user interests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Retargets users who viewed or added products to cart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Catalogue ads automatically display relevant products to the right audience, increasing the chances of purchase.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3E98CA-3417-882B-330D-A18DE3980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266" y="1690687"/>
            <a:ext cx="3826933" cy="469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86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D3FC5-C52C-C97A-59F9-76E41CA21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Performance Goal, Location &amp; Budget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02C38-B392-8D67-CC30-9EE7D60C216C}"/>
              </a:ext>
            </a:extLst>
          </p:cNvPr>
          <p:cNvSpPr txBox="1"/>
          <p:nvPr/>
        </p:nvSpPr>
        <p:spPr>
          <a:xfrm>
            <a:off x="770467" y="1691561"/>
            <a:ext cx="29125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Performance Goal</a:t>
            </a:r>
          </a:p>
          <a:p>
            <a:endParaRPr lang="en-US" b="1" dirty="0"/>
          </a:p>
          <a:p>
            <a:r>
              <a:rPr lang="en-US" b="1" dirty="0"/>
              <a:t>Goal:</a:t>
            </a:r>
            <a:r>
              <a:rPr lang="en-US" dirty="0"/>
              <a:t> Website Purchases</a:t>
            </a:r>
          </a:p>
          <a:p>
            <a:r>
              <a:rPr lang="en-US" b="1" dirty="0"/>
              <a:t>Optimization Event:</a:t>
            </a:r>
            <a:r>
              <a:rPr lang="en-US" dirty="0"/>
              <a:t> Purchase</a:t>
            </a:r>
          </a:p>
          <a:p>
            <a:endParaRPr lang="en-US" dirty="0"/>
          </a:p>
          <a:p>
            <a:r>
              <a:rPr lang="en-US" b="1" dirty="0"/>
              <a:t>Reason</a:t>
            </a:r>
            <a:endParaRPr lang="en-US" dirty="0"/>
          </a:p>
          <a:p>
            <a:r>
              <a:rPr lang="en-US" dirty="0"/>
              <a:t>Optimizing for </a:t>
            </a:r>
            <a:r>
              <a:rPr lang="en-US" b="1" dirty="0"/>
              <a:t>purchase</a:t>
            </a:r>
            <a:r>
              <a:rPr lang="en-US" dirty="0"/>
              <a:t> ensures Meta’s algorithm finds users most likely to complete a transaction rather than just clicking the ad.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0B4AA-285F-5DEF-E167-80B1B36F4D1B}"/>
              </a:ext>
            </a:extLst>
          </p:cNvPr>
          <p:cNvSpPr txBox="1"/>
          <p:nvPr/>
        </p:nvSpPr>
        <p:spPr>
          <a:xfrm>
            <a:off x="3945467" y="1691561"/>
            <a:ext cx="249766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Location Targeting</a:t>
            </a:r>
          </a:p>
          <a:p>
            <a:endParaRPr lang="en-IN" b="1" dirty="0"/>
          </a:p>
          <a:p>
            <a:r>
              <a:rPr lang="en-IN" dirty="0"/>
              <a:t>Target Cities:</a:t>
            </a:r>
          </a:p>
          <a:p>
            <a:r>
              <a:rPr lang="en-IN" dirty="0"/>
              <a:t>Mumbai, Delhi, Bangalore, Hyderabad, Pune, Chennai</a:t>
            </a:r>
          </a:p>
          <a:p>
            <a:endParaRPr lang="en-IN" dirty="0"/>
          </a:p>
          <a:p>
            <a:r>
              <a:rPr lang="en-US" b="1" dirty="0"/>
              <a:t>Justification</a:t>
            </a:r>
          </a:p>
          <a:p>
            <a:endParaRPr lang="en-US" dirty="0"/>
          </a:p>
          <a:p>
            <a:r>
              <a:rPr lang="en-US" dirty="0"/>
              <a:t>These cities:</a:t>
            </a:r>
          </a:p>
          <a:p>
            <a:r>
              <a:rPr lang="en-US" sz="1400" dirty="0"/>
              <a:t>Have high online shopping penetration</a:t>
            </a:r>
          </a:p>
          <a:p>
            <a:r>
              <a:rPr lang="en-US" sz="1400" dirty="0"/>
              <a:t>Strong logistics and delivery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6D380-28DE-5B56-B825-3B725930F578}"/>
              </a:ext>
            </a:extLst>
          </p:cNvPr>
          <p:cNvSpPr txBox="1"/>
          <p:nvPr/>
        </p:nvSpPr>
        <p:spPr>
          <a:xfrm>
            <a:off x="6443133" y="5283114"/>
            <a:ext cx="54398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Justification</a:t>
            </a:r>
            <a:endParaRPr lang="en-US" sz="1400" dirty="0"/>
          </a:p>
          <a:p>
            <a:r>
              <a:rPr lang="en-US" sz="1400" dirty="0"/>
              <a:t>Higher budget allocated to </a:t>
            </a:r>
            <a:r>
              <a:rPr lang="en-US" sz="1400" b="1" dirty="0"/>
              <a:t>high purchase intent audiences</a:t>
            </a:r>
            <a:endParaRPr lang="en-US" sz="1400" dirty="0"/>
          </a:p>
          <a:p>
            <a:r>
              <a:rPr lang="en-US" sz="1400" dirty="0"/>
              <a:t>Retargeting requires lower budget but gives </a:t>
            </a:r>
            <a:r>
              <a:rPr lang="en-US" sz="1400" b="1" dirty="0"/>
              <a:t>high conversion rates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CD9A182-B0F5-E022-E598-DFFEC7576153}"/>
              </a:ext>
            </a:extLst>
          </p:cNvPr>
          <p:cNvSpPr txBox="1"/>
          <p:nvPr/>
        </p:nvSpPr>
        <p:spPr>
          <a:xfrm>
            <a:off x="6498166" y="1369656"/>
            <a:ext cx="543983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Budget</a:t>
            </a:r>
            <a:endParaRPr lang="en-IN" sz="1600" b="1" dirty="0"/>
          </a:p>
          <a:p>
            <a:r>
              <a:rPr lang="en-IN" sz="1600" dirty="0"/>
              <a:t>Daily Budget: </a:t>
            </a:r>
            <a:r>
              <a:rPr lang="en-IN" sz="1600" b="1" dirty="0"/>
              <a:t>₹5000</a:t>
            </a:r>
          </a:p>
          <a:p>
            <a:endParaRPr lang="en-IN" b="1" dirty="0"/>
          </a:p>
        </p:txBody>
      </p: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E9F41B81-65E6-C266-A8D4-60F15F483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927419"/>
              </p:ext>
            </p:extLst>
          </p:nvPr>
        </p:nvGraphicFramePr>
        <p:xfrm>
          <a:off x="6502400" y="2262208"/>
          <a:ext cx="4588932" cy="3332499"/>
        </p:xfrm>
        <a:graphic>
          <a:graphicData uri="http://schemas.openxmlformats.org/drawingml/2006/table">
            <a:tbl>
              <a:tblPr/>
              <a:tblGrid>
                <a:gridCol w="1529644">
                  <a:extLst>
                    <a:ext uri="{9D8B030D-6E8A-4147-A177-3AD203B41FA5}">
                      <a16:colId xmlns:a16="http://schemas.microsoft.com/office/drawing/2014/main" val="4127551566"/>
                    </a:ext>
                  </a:extLst>
                </a:gridCol>
                <a:gridCol w="1529644">
                  <a:extLst>
                    <a:ext uri="{9D8B030D-6E8A-4147-A177-3AD203B41FA5}">
                      <a16:colId xmlns:a16="http://schemas.microsoft.com/office/drawing/2014/main" val="2785611804"/>
                    </a:ext>
                  </a:extLst>
                </a:gridCol>
                <a:gridCol w="1529644">
                  <a:extLst>
                    <a:ext uri="{9D8B030D-6E8A-4147-A177-3AD203B41FA5}">
                      <a16:colId xmlns:a16="http://schemas.microsoft.com/office/drawing/2014/main" val="647016918"/>
                    </a:ext>
                  </a:extLst>
                </a:gridCol>
              </a:tblGrid>
              <a:tr h="284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Ad 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Audience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Budget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180529"/>
                  </a:ext>
                </a:extLst>
              </a:tr>
              <a:tr h="49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Ad Set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Online Grocery Shoppers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₹1500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546016"/>
                  </a:ext>
                </a:extLst>
              </a:tr>
              <a:tr h="49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Ad Set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Discount &amp; Deal Seekers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₹1000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527048"/>
                  </a:ext>
                </a:extLst>
              </a:tr>
              <a:tr h="497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Ad Set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Household &amp; Family Audience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₹1500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40010"/>
                  </a:ext>
                </a:extLst>
              </a:tr>
              <a:tr h="4978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835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66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E489946-E4D0-597E-7E46-9A52AF16B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020"/>
            <a:ext cx="12107333" cy="593803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E172096F-59E3-89FF-2499-E119C62D7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388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Campaign Outlook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62223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7419920-12F8-AFCA-4DAF-20BFE8092E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23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/>
              <a:t>3 AD Sets With Multiple Creative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C29C79-EFBE-D3D2-56E3-3069A57B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825"/>
            <a:ext cx="12192000" cy="671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8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6A09C2-76BC-6693-398C-0EC310B5B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619"/>
            <a:ext cx="12192000" cy="666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51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FCDDF3-842E-7F42-C946-25CC626F56CC}"/>
              </a:ext>
            </a:extLst>
          </p:cNvPr>
          <p:cNvSpPr txBox="1"/>
          <p:nvPr/>
        </p:nvSpPr>
        <p:spPr>
          <a:xfrm>
            <a:off x="152400" y="2797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Age &amp; Gender</a:t>
            </a:r>
          </a:p>
          <a:p>
            <a:pPr>
              <a:buNone/>
            </a:pPr>
            <a:r>
              <a:rPr lang="en-US" dirty="0"/>
              <a:t>Age Range: </a:t>
            </a:r>
            <a:r>
              <a:rPr lang="en-US" b="1" dirty="0"/>
              <a:t>23 – 50 years</a:t>
            </a:r>
            <a:endParaRPr lang="en-US" dirty="0"/>
          </a:p>
          <a:p>
            <a:pPr>
              <a:buNone/>
            </a:pPr>
            <a:r>
              <a:rPr lang="en-US" dirty="0"/>
              <a:t>Gender: </a:t>
            </a:r>
            <a:r>
              <a:rPr lang="en-US" b="1" dirty="0"/>
              <a:t>All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Justification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18–65+ is the </a:t>
            </a:r>
            <a:r>
              <a:rPr lang="en-US" b="1" dirty="0"/>
              <a:t>main online shopping age group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Both </a:t>
            </a:r>
            <a:r>
              <a:rPr lang="en-US" b="1" dirty="0"/>
              <a:t>men and women purchase groceries online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Family buyers fall in this range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2CA8AB-12F9-E303-5884-FD127371158E}"/>
              </a:ext>
            </a:extLst>
          </p:cNvPr>
          <p:cNvSpPr txBox="1"/>
          <p:nvPr/>
        </p:nvSpPr>
        <p:spPr>
          <a:xfrm>
            <a:off x="59267" y="26994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Catalogue Design (Example Products)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6E3CCF7-D290-BA23-54D0-C3C6798F6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990376"/>
              </p:ext>
            </p:extLst>
          </p:nvPr>
        </p:nvGraphicFramePr>
        <p:xfrm>
          <a:off x="152400" y="3068767"/>
          <a:ext cx="9719733" cy="3657600"/>
        </p:xfrm>
        <a:graphic>
          <a:graphicData uri="http://schemas.openxmlformats.org/drawingml/2006/table">
            <a:tbl>
              <a:tblPr/>
              <a:tblGrid>
                <a:gridCol w="3239911">
                  <a:extLst>
                    <a:ext uri="{9D8B030D-6E8A-4147-A177-3AD203B41FA5}">
                      <a16:colId xmlns:a16="http://schemas.microsoft.com/office/drawing/2014/main" val="3918528840"/>
                    </a:ext>
                  </a:extLst>
                </a:gridCol>
                <a:gridCol w="3239911">
                  <a:extLst>
                    <a:ext uri="{9D8B030D-6E8A-4147-A177-3AD203B41FA5}">
                      <a16:colId xmlns:a16="http://schemas.microsoft.com/office/drawing/2014/main" val="1699819332"/>
                    </a:ext>
                  </a:extLst>
                </a:gridCol>
                <a:gridCol w="3239911">
                  <a:extLst>
                    <a:ext uri="{9D8B030D-6E8A-4147-A177-3AD203B41FA5}">
                      <a16:colId xmlns:a16="http://schemas.microsoft.com/office/drawing/2014/main" val="1623592659"/>
                    </a:ext>
                  </a:extLst>
                </a:gridCol>
              </a:tblGrid>
              <a:tr h="306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192068"/>
                  </a:ext>
                </a:extLst>
              </a:tr>
              <a:tr h="306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Aashirvaad Atta 5kg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Grocery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913643"/>
                  </a:ext>
                </a:extLst>
              </a:tr>
              <a:tr h="306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Tata Salt 1kg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Grocery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318163"/>
                  </a:ext>
                </a:extLst>
              </a:tr>
              <a:tr h="306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Fortune Sunflower Oil 1L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Cooking Oil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649010"/>
                  </a:ext>
                </a:extLst>
              </a:tr>
              <a:tr h="306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Surf Excel Detergent 1kg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Household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515240"/>
                  </a:ext>
                </a:extLst>
              </a:tr>
              <a:tr h="306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Maggi Noodles Pack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253378"/>
                  </a:ext>
                </a:extLst>
              </a:tr>
              <a:tr h="306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Amul Butter 500g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Dairy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952683"/>
                  </a:ext>
                </a:extLst>
              </a:tr>
              <a:tr h="306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Parle-G Biscuits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Snacks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417635"/>
                  </a:ext>
                </a:extLst>
              </a:tr>
              <a:tr h="306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Colgate Toothpaste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Personal 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613290"/>
                  </a:ext>
                </a:extLst>
              </a:tr>
              <a:tr h="306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 Day Cookies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Snacks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02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43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ABAA38-8E5C-3789-4C0D-5774CF04A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570" y="0"/>
            <a:ext cx="8242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70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55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324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Meta Ads Campaign Setup for JioMart </vt:lpstr>
      <vt:lpstr>Performance Goal, Location &amp; Budget</vt:lpstr>
      <vt:lpstr>Campaign Outlook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Sonali Kumari</dc:creator>
  <cp:lastModifiedBy>Sonali Kumari</cp:lastModifiedBy>
  <cp:revision>1</cp:revision>
  <dcterms:created xsi:type="dcterms:W3CDTF">2026-03-12T06:58:55Z</dcterms:created>
  <dcterms:modified xsi:type="dcterms:W3CDTF">2026-05-17T09:27:22Z</dcterms:modified>
</cp:coreProperties>
</file>